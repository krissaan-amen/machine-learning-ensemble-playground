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428" r:id="rId2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327"/>
  </p:normalViewPr>
  <p:slideViewPr>
    <p:cSldViewPr snapToGrid="0" showGuides="1">
      <p:cViewPr varScale="1">
        <p:scale>
          <a:sx n="118" d="100"/>
          <a:sy n="118" d="100"/>
        </p:scale>
        <p:origin x="808" y="2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BAF5F-057C-53A1-FBED-96C2D5D74C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36F751-0A4D-9459-FFBD-26CFF24BBA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B639A-2333-8526-E705-8ECBD581F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24750-510B-8745-A6AF-4AE5CAB990F7}" type="datetimeFigureOut">
              <a:rPr lang="en-CH" smtClean="0"/>
              <a:t>15.10.23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76FC9-5DFB-EB35-2997-0F2592798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8197B-6F82-259D-99B3-402F13637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13D07-AE38-B94C-B597-ED4DE7F6D1B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318505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9937A-6EBD-919B-9D18-3ECEB96C4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A0A10-B302-E1F0-E9D5-F07DA2E48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D9600-7279-8987-76FB-85A968381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24750-510B-8745-A6AF-4AE5CAB990F7}" type="datetimeFigureOut">
              <a:rPr lang="en-CH" smtClean="0"/>
              <a:t>15.10.23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D0994-E733-36D0-01A9-157E5F5B0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DBA23-C90D-FFCF-7053-CCE3B1DB0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13D07-AE38-B94C-B597-ED4DE7F6D1B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757970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68DFC-67B6-ACF2-5EB3-F6EC00E37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CBCBD-DEF7-FCB7-4DCA-A6BE7D43D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C473E-E8A2-2EB9-70E2-AA7E6DB75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24750-510B-8745-A6AF-4AE5CAB990F7}" type="datetimeFigureOut">
              <a:rPr lang="en-CH" smtClean="0"/>
              <a:t>15.10.23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79A65-3969-8EBB-F6D6-3CE5E507F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590C5-37E5-51C1-1729-C49C87E26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13D07-AE38-B94C-B597-ED4DE7F6D1B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655855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0DD2A-9096-D167-A9BA-0097E8A7E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292AC-2EEB-C343-64E6-C80AEF0A16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283AFE-58D9-21F3-DB67-569F1C82ED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EA50BF-2CFD-9D8B-AFDC-1FA609929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24750-510B-8745-A6AF-4AE5CAB990F7}" type="datetimeFigureOut">
              <a:rPr lang="en-CH" smtClean="0"/>
              <a:t>15.10.23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E205FE-57D2-7E53-8C29-15F08C10D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11C411-C9D2-FBFF-4C77-45693C7D8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13D07-AE38-B94C-B597-ED4DE7F6D1B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1976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60FF8-71F1-A8F9-5A70-4854CD057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365054-C47F-A758-2FF5-FE410514FB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67775D-7F2C-0F7B-2BCD-6492F95742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F9DEDC-8D42-5476-A2BB-689E87BECC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84A9C4-C5C1-DEF7-4CFA-A63421E31A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2D5384-97ED-CFFA-4F1B-B951D4AA4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24750-510B-8745-A6AF-4AE5CAB990F7}" type="datetimeFigureOut">
              <a:rPr lang="en-CH" smtClean="0"/>
              <a:t>15.10.23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AFF577-65C3-5E37-87A9-2032934DA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369B31-376B-0B53-1102-C217B7988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13D07-AE38-B94C-B597-ED4DE7F6D1B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1487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2ADDC-587F-792B-5FE9-E66393BD5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DF7336-7664-C798-CB70-D90FEA83F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24750-510B-8745-A6AF-4AE5CAB990F7}" type="datetimeFigureOut">
              <a:rPr lang="en-CH" smtClean="0"/>
              <a:t>15.10.23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BBE464-ED5A-3E2D-D3F3-F793311E3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9F4EA8-D9C8-D6E0-09DA-631C13C56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13D07-AE38-B94C-B597-ED4DE7F6D1B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358227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4331B2-3743-49A0-440E-7DEF3DCCB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24750-510B-8745-A6AF-4AE5CAB990F7}" type="datetimeFigureOut">
              <a:rPr lang="en-CH" smtClean="0"/>
              <a:t>15.10.23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CC3483-119C-D0C7-A419-1CE06362A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EC6A44-3168-FC33-C46A-61D1A35CE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13D07-AE38-B94C-B597-ED4DE7F6D1B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39146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DC521-3671-B398-B191-CBFE449E2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AB3C0-F7B2-67CD-A947-8783807A3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1C2D9C-A9B3-B088-4A10-2F398CAFE2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9463E7-45B2-9320-A10D-061B7FCB2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24750-510B-8745-A6AF-4AE5CAB990F7}" type="datetimeFigureOut">
              <a:rPr lang="en-CH" smtClean="0"/>
              <a:t>15.10.23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9DC31F-A783-1820-7788-DCFE3B644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CFAC61-49BA-7651-7907-DCDB5BB44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13D07-AE38-B94C-B597-ED4DE7F6D1B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04834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04E3A-96CB-C93F-7F6B-6439494BF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9E14FA-EA0A-5B50-EDD1-18CB0E95DE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4CA518-7AD2-B568-A454-23C5906A7B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CAE281-F7BA-6D2F-F28A-6F36B3935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24750-510B-8745-A6AF-4AE5CAB990F7}" type="datetimeFigureOut">
              <a:rPr lang="en-CH" smtClean="0"/>
              <a:t>15.10.23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A3C016-3CCA-2EE0-0384-74793F79D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7B9A0D-D0B4-C679-33A6-DB1BAE1FA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13D07-AE38-B94C-B597-ED4DE7F6D1B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911668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A8086-1F16-5805-7EE2-C00B534CB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25EC83-CD5C-A7E2-9C6C-F35FA0FA14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F11EA-D7E6-7C45-CD62-5E447B0B0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24750-510B-8745-A6AF-4AE5CAB990F7}" type="datetimeFigureOut">
              <a:rPr lang="en-CH" smtClean="0"/>
              <a:t>15.10.23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E6050-FE1F-05C8-8AE9-001016B03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EF463-EB5B-9EC2-2959-3EB69EB62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13D07-AE38-B94C-B597-ED4DE7F6D1B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655293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B27EC1-25D3-5E01-CC60-88E0B285C5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1FB2B9-754D-0609-F253-EA09E02885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3181B-FDC8-AE5B-C255-52C47C9B3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24750-510B-8745-A6AF-4AE5CAB990F7}" type="datetimeFigureOut">
              <a:rPr lang="en-CH" smtClean="0"/>
              <a:t>15.10.23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09AD0-A865-451A-E7AC-06BA4E103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5E7F7-DBAC-35AC-9054-9F338E15A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13D07-AE38-B94C-B597-ED4DE7F6D1B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184348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2969" y="452967"/>
            <a:ext cx="11294532" cy="5507567"/>
          </a:xfrm>
        </p:spPr>
        <p:txBody>
          <a:bodyPr/>
          <a:lstStyle>
            <a:lvl1pPr marL="0" indent="0">
              <a:lnSpc>
                <a:spcPct val="85000"/>
              </a:lnSpc>
              <a:spcAft>
                <a:spcPts val="0"/>
              </a:spcAft>
              <a:buNone/>
              <a:defRPr sz="4000">
                <a:solidFill>
                  <a:srgbClr val="FF6600"/>
                </a:solidFill>
                <a:latin typeface="Helvetica 75 Bold" panose="020B0804020202020204" pitchFamily="34" charset="0"/>
              </a:defRPr>
            </a:lvl1pPr>
            <a:lvl2pPr marL="535504" marR="0" indent="-535504" algn="l" defTabSz="68578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lang="fr-FR" sz="4000" kern="1200" dirty="0" smtClean="0">
                <a:solidFill>
                  <a:schemeClr val="tx1"/>
                </a:solidFill>
                <a:latin typeface="Helvetica 75 Bold" panose="020B0804020202020204" pitchFamily="34" charset="0"/>
                <a:ea typeface="ＭＳ Ｐゴシック" pitchFamily="34" charset="-128"/>
                <a:cs typeface="+mn-cs"/>
              </a:defRPr>
            </a:lvl2pPr>
            <a:lvl3pPr marL="535504" indent="-535504">
              <a:lnSpc>
                <a:spcPct val="85000"/>
              </a:lnSpc>
              <a:spcAft>
                <a:spcPts val="1067"/>
              </a:spcAft>
              <a:buFont typeface="+mj-lt"/>
              <a:buNone/>
              <a:defRPr sz="4000"/>
            </a:lvl3pPr>
            <a:lvl4pPr marL="535504" indent="-535504">
              <a:lnSpc>
                <a:spcPct val="85000"/>
              </a:lnSpc>
              <a:spcAft>
                <a:spcPts val="1067"/>
              </a:spcAft>
              <a:buFont typeface="+mj-lt"/>
              <a:buNone/>
              <a:defRPr sz="4000"/>
            </a:lvl4pPr>
            <a:lvl5pPr marL="0" indent="0">
              <a:lnSpc>
                <a:spcPct val="85000"/>
              </a:lnSpc>
              <a:spcAft>
                <a:spcPts val="1067"/>
              </a:spcAft>
              <a:buFont typeface="+mj-lt"/>
              <a:buNone/>
              <a:defRPr sz="4000"/>
            </a:lvl5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744617119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8814D2-D26A-5618-8FC0-7D3959FFE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EDA1CE-AF54-5CBB-9354-1CD49F15D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64948-B9BF-E654-7AFA-6D59660BD5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F24750-510B-8745-A6AF-4AE5CAB990F7}" type="datetimeFigureOut">
              <a:rPr lang="en-CH" smtClean="0"/>
              <a:t>15.10.23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749FD4-AC67-DB7F-1C98-C74EBC0AA9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78BCA-5EC9-2371-B172-75E8266A74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513D07-AE38-B94C-B597-ED4DE7F6D1B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455263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ahmedbesbes-playground-app-lzztm8.streamlit.app/?fbclid=IwAR2zLGhVALu7lOzp0A94bycXLUdTawshym0azuG7FNRRYojRRQl3jRsHpy0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342FEC03-C5B3-3549-9965-4249AC7AD0AD}"/>
              </a:ext>
            </a:extLst>
          </p:cNvPr>
          <p:cNvSpPr/>
          <p:nvPr/>
        </p:nvSpPr>
        <p:spPr>
          <a:xfrm>
            <a:off x="4244628" y="3274541"/>
            <a:ext cx="7700581" cy="342282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05C5ECE-1BFF-9A49-8DAA-89ADCD0AA02A}"/>
              </a:ext>
            </a:extLst>
          </p:cNvPr>
          <p:cNvSpPr/>
          <p:nvPr/>
        </p:nvSpPr>
        <p:spPr>
          <a:xfrm>
            <a:off x="255261" y="3274541"/>
            <a:ext cx="3649474" cy="3422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52BC431-1FC2-8748-A841-27265472633B}"/>
              </a:ext>
            </a:extLst>
          </p:cNvPr>
          <p:cNvSpPr/>
          <p:nvPr/>
        </p:nvSpPr>
        <p:spPr>
          <a:xfrm>
            <a:off x="4749006" y="836508"/>
            <a:ext cx="3048000" cy="9531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73CE949C-AA40-5F49-A7FF-F5D958D9C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969" y="452967"/>
            <a:ext cx="11294532" cy="5507567"/>
          </a:xfrm>
        </p:spPr>
        <p:txBody>
          <a:bodyPr/>
          <a:lstStyle/>
          <a:p>
            <a:r>
              <a:rPr lang="fr-FR" dirty="0" err="1"/>
              <a:t>Demo</a:t>
            </a:r>
            <a:endParaRPr lang="fr-FR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8B0ED74-63F6-964A-9502-D7623B65ED56}"/>
              </a:ext>
            </a:extLst>
          </p:cNvPr>
          <p:cNvSpPr txBox="1"/>
          <p:nvPr/>
        </p:nvSpPr>
        <p:spPr>
          <a:xfrm>
            <a:off x="5114132" y="1143376"/>
            <a:ext cx="2356428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chemeClr val="bg1"/>
                </a:solidFill>
              </a:rPr>
              <a:t>ML playground</a:t>
            </a:r>
          </a:p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53AE1E1-DCE3-204D-A483-02787D4F208E}"/>
              </a:ext>
            </a:extLst>
          </p:cNvPr>
          <p:cNvSpPr txBox="1"/>
          <p:nvPr/>
        </p:nvSpPr>
        <p:spPr>
          <a:xfrm>
            <a:off x="255261" y="1816541"/>
            <a:ext cx="5750123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fr-FR" sz="1600" b="1" dirty="0"/>
              <a:t>Modélisation avec le </a:t>
            </a:r>
            <a:r>
              <a:rPr lang="fr-FR" sz="1600" b="1" dirty="0" err="1"/>
              <a:t>playground</a:t>
            </a:r>
            <a:endParaRPr lang="fr-FR" sz="1600" b="1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r-FR" sz="1600" dirty="0"/>
              <a:t>Choisissez une source données (</a:t>
            </a:r>
            <a:r>
              <a:rPr lang="fr-FR" sz="1600" dirty="0" err="1"/>
              <a:t>moon</a:t>
            </a:r>
            <a:r>
              <a:rPr lang="fr-FR" sz="1600" dirty="0"/>
              <a:t>, </a:t>
            </a:r>
            <a:r>
              <a:rPr lang="fr-FR" sz="1600" dirty="0" err="1"/>
              <a:t>circles</a:t>
            </a:r>
            <a:r>
              <a:rPr lang="fr-FR" sz="1600" dirty="0"/>
              <a:t> or </a:t>
            </a:r>
            <a:r>
              <a:rPr lang="fr-FR" sz="1600" dirty="0" err="1"/>
              <a:t>bloobs</a:t>
            </a:r>
            <a:r>
              <a:rPr lang="fr-FR" sz="1600" dirty="0"/>
              <a:t>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r-FR" sz="1600" dirty="0"/>
              <a:t>Toutes les expériences sont à faire avec le </a:t>
            </a:r>
            <a:r>
              <a:rPr lang="fr-FR" sz="1600" dirty="0" err="1"/>
              <a:t>ramdon</a:t>
            </a:r>
            <a:r>
              <a:rPr lang="fr-FR" sz="1600" dirty="0"/>
              <a:t> </a:t>
            </a:r>
            <a:r>
              <a:rPr lang="fr-FR" sz="1600" dirty="0" err="1"/>
              <a:t>forest</a:t>
            </a:r>
            <a:r>
              <a:rPr lang="fr-FR" sz="1600" dirty="0"/>
              <a:t>, Gradient </a:t>
            </a:r>
            <a:r>
              <a:rPr lang="fr-FR" sz="1600" dirty="0" err="1"/>
              <a:t>boosting</a:t>
            </a:r>
            <a:r>
              <a:rPr lang="fr-FR" sz="1600" dirty="0"/>
              <a:t> et </a:t>
            </a:r>
            <a:r>
              <a:rPr lang="fr-FR" sz="1600" dirty="0" err="1"/>
              <a:t>Decision</a:t>
            </a:r>
            <a:r>
              <a:rPr lang="fr-FR" sz="1600" dirty="0"/>
              <a:t> </a:t>
            </a:r>
            <a:r>
              <a:rPr lang="fr-FR" sz="1600" dirty="0" err="1"/>
              <a:t>trees</a:t>
            </a:r>
            <a:endParaRPr lang="fr-FR" sz="1600" dirty="0"/>
          </a:p>
          <a:p>
            <a:pPr marL="1257300" lvl="2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fr-FR" sz="16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42753C1-E8F5-CE4D-B240-69B0BBF96A34}"/>
              </a:ext>
            </a:extLst>
          </p:cNvPr>
          <p:cNvSpPr txBox="1"/>
          <p:nvPr/>
        </p:nvSpPr>
        <p:spPr>
          <a:xfrm>
            <a:off x="8722647" y="3802758"/>
            <a:ext cx="3069754" cy="264187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b="1"/>
              <a:t>Quantifier l’impacte de chaque hyper paramètre sur l’erreur test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b="1"/>
              <a:t>Expliquer pourquoi on obtient de telles différences entre chaque expérience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C456127-3B6B-0642-8476-CACBA1A45659}"/>
              </a:ext>
            </a:extLst>
          </p:cNvPr>
          <p:cNvSpPr/>
          <p:nvPr/>
        </p:nvSpPr>
        <p:spPr>
          <a:xfrm>
            <a:off x="4244628" y="3409543"/>
            <a:ext cx="4478019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Activité 2 Faire l’ entrainaient sur 3 modèles:</a:t>
            </a:r>
          </a:p>
          <a:p>
            <a:pPr marL="800100" lvl="1" indent="-342900">
              <a:buFont typeface="+mj-lt"/>
              <a:buAutoNum type="arabicPeriod"/>
            </a:pPr>
            <a:r>
              <a:rPr lang="fr-FR" sz="1600" dirty="0" err="1"/>
              <a:t>Random</a:t>
            </a:r>
            <a:r>
              <a:rPr lang="fr-FR" sz="1600" dirty="0"/>
              <a:t> </a:t>
            </a:r>
            <a:r>
              <a:rPr lang="fr-FR" sz="1600" dirty="0" err="1"/>
              <a:t>forest</a:t>
            </a:r>
            <a:r>
              <a:rPr lang="fr-FR" sz="1600" dirty="0"/>
              <a:t>: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fr-FR" sz="1600" dirty="0" err="1"/>
              <a:t>Criteria</a:t>
            </a:r>
            <a:r>
              <a:rPr lang="fr-FR" sz="1600" dirty="0"/>
              <a:t>: </a:t>
            </a:r>
            <a:r>
              <a:rPr lang="fr-FR" sz="1600" dirty="0" err="1"/>
              <a:t>gini</a:t>
            </a:r>
            <a:r>
              <a:rPr lang="fr-FR" sz="1600" dirty="0"/>
              <a:t>, </a:t>
            </a:r>
            <a:r>
              <a:rPr lang="fr-FR" sz="1600" dirty="0" err="1"/>
              <a:t>entropy</a:t>
            </a:r>
            <a:endParaRPr lang="fr-FR" sz="16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fr-FR" sz="1600" dirty="0" err="1"/>
              <a:t>N_estimators</a:t>
            </a:r>
            <a:r>
              <a:rPr lang="fr-FR" sz="1600" dirty="0"/>
              <a:t>: 50, 100, 300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fr-FR" sz="1600" dirty="0" err="1"/>
              <a:t>Max_depth</a:t>
            </a:r>
            <a:r>
              <a:rPr lang="fr-FR" sz="1600" dirty="0"/>
              <a:t> = 1, 5, 50</a:t>
            </a:r>
          </a:p>
          <a:p>
            <a:pPr marL="800100" lvl="1" indent="-342900">
              <a:buFont typeface="+mj-lt"/>
              <a:buAutoNum type="arabicPeriod"/>
            </a:pPr>
            <a:r>
              <a:rPr lang="fr-FR" sz="1600" dirty="0"/>
              <a:t>Gradient </a:t>
            </a:r>
            <a:r>
              <a:rPr lang="fr-FR" sz="1600" dirty="0" err="1"/>
              <a:t>Boosting</a:t>
            </a:r>
            <a:r>
              <a:rPr lang="fr-FR" sz="1600" dirty="0"/>
              <a:t>: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fr-FR" sz="1600" dirty="0"/>
              <a:t>Learning rate: 0.1, 0.5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fr-FR" sz="1600" dirty="0" err="1"/>
              <a:t>N_estimators</a:t>
            </a:r>
            <a:r>
              <a:rPr lang="fr-FR" sz="1600" dirty="0"/>
              <a:t>: 10, 100, 300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fr-FR" sz="1600" dirty="0" err="1"/>
              <a:t>Max_depth</a:t>
            </a:r>
            <a:r>
              <a:rPr lang="fr-FR" sz="1600" dirty="0"/>
              <a:t> = 1, 5, 50</a:t>
            </a:r>
          </a:p>
          <a:p>
            <a:pPr marL="800100" lvl="1" indent="-342900">
              <a:buFont typeface="+mj-lt"/>
              <a:buAutoNum type="arabicPeriod"/>
            </a:pPr>
            <a:r>
              <a:rPr lang="fr-FR" sz="1600" dirty="0" err="1"/>
              <a:t>Decision</a:t>
            </a:r>
            <a:r>
              <a:rPr lang="fr-FR" sz="1600" dirty="0"/>
              <a:t> </a:t>
            </a:r>
            <a:r>
              <a:rPr lang="fr-FR" sz="1600" dirty="0" err="1"/>
              <a:t>trees</a:t>
            </a:r>
            <a:r>
              <a:rPr lang="fr-FR" sz="1600" dirty="0"/>
              <a:t>: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fr-FR" sz="1600" dirty="0" err="1"/>
              <a:t>Criterion</a:t>
            </a:r>
            <a:r>
              <a:rPr lang="fr-FR" sz="1600" dirty="0"/>
              <a:t>: </a:t>
            </a:r>
            <a:r>
              <a:rPr lang="fr-FR" sz="1600" dirty="0" err="1"/>
              <a:t>gini</a:t>
            </a:r>
            <a:r>
              <a:rPr lang="fr-FR" sz="1600" dirty="0"/>
              <a:t>, </a:t>
            </a:r>
            <a:r>
              <a:rPr lang="fr-FR" sz="1600" dirty="0" err="1"/>
              <a:t>entropy</a:t>
            </a:r>
            <a:endParaRPr lang="fr-FR" sz="16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fr-FR" sz="1600" dirty="0" err="1"/>
              <a:t>Max_depth</a:t>
            </a:r>
            <a:r>
              <a:rPr lang="fr-FR" sz="1600" dirty="0"/>
              <a:t> = 1, 5, 50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F23F787-719C-1A42-A4E4-67AD008753E4}"/>
              </a:ext>
            </a:extLst>
          </p:cNvPr>
          <p:cNvSpPr txBox="1"/>
          <p:nvPr/>
        </p:nvSpPr>
        <p:spPr>
          <a:xfrm>
            <a:off x="255261" y="3496962"/>
            <a:ext cx="3538263" cy="3011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600" b="1" dirty="0"/>
              <a:t> Activité 1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Choisir trois valeurs pour noise: 0.01, 0.10, 0.20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Faire l’entrainement avec les trois modèles, en prenant les hyper paramètres par défaut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Quel est le modèle le plus robuste face au bruit?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CE4439-BA49-843D-9E98-43D81FBE4D33}"/>
              </a:ext>
            </a:extLst>
          </p:cNvPr>
          <p:cNvSpPr txBox="1"/>
          <p:nvPr/>
        </p:nvSpPr>
        <p:spPr>
          <a:xfrm>
            <a:off x="8722647" y="363610"/>
            <a:ext cx="2954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ML Playground</a:t>
            </a:r>
            <a:endParaRPr lang="fr-FR" sz="24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3421354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</Words>
  <Application>Microsoft Macintosh PowerPoint</Application>
  <PresentationFormat>Widescreen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 75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Benavides Pinjosovsky, Simon</dc:creator>
  <cp:lastModifiedBy>Benavides Pinjosovsky, Simon</cp:lastModifiedBy>
  <cp:revision>1</cp:revision>
  <dcterms:created xsi:type="dcterms:W3CDTF">2023-10-15T05:12:22Z</dcterms:created>
  <dcterms:modified xsi:type="dcterms:W3CDTF">2023-10-15T05:12:48Z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c9bec58-8084-492e-8360-0e1cfe36408c_Enabled">
    <vt:lpwstr>true</vt:lpwstr>
  </property>
  <property fmtid="{D5CDD505-2E9C-101B-9397-08002B2CF9AE}" pid="3" name="MSIP_Label_3c9bec58-8084-492e-8360-0e1cfe36408c_SetDate">
    <vt:lpwstr>2023-10-15T05:12:48Z</vt:lpwstr>
  </property>
  <property fmtid="{D5CDD505-2E9C-101B-9397-08002B2CF9AE}" pid="4" name="MSIP_Label_3c9bec58-8084-492e-8360-0e1cfe36408c_Method">
    <vt:lpwstr>Standard</vt:lpwstr>
  </property>
  <property fmtid="{D5CDD505-2E9C-101B-9397-08002B2CF9AE}" pid="5" name="MSIP_Label_3c9bec58-8084-492e-8360-0e1cfe36408c_Name">
    <vt:lpwstr>Not Protected -Pilot</vt:lpwstr>
  </property>
  <property fmtid="{D5CDD505-2E9C-101B-9397-08002B2CF9AE}" pid="6" name="MSIP_Label_3c9bec58-8084-492e-8360-0e1cfe36408c_SiteId">
    <vt:lpwstr>f35a6974-607f-47d4-82d7-ff31d7dc53a5</vt:lpwstr>
  </property>
  <property fmtid="{D5CDD505-2E9C-101B-9397-08002B2CF9AE}" pid="7" name="MSIP_Label_3c9bec58-8084-492e-8360-0e1cfe36408c_ActionId">
    <vt:lpwstr>cf4fe984-5532-42c3-a9bb-647f215f7ce9</vt:lpwstr>
  </property>
  <property fmtid="{D5CDD505-2E9C-101B-9397-08002B2CF9AE}" pid="8" name="MSIP_Label_3c9bec58-8084-492e-8360-0e1cfe36408c_ContentBits">
    <vt:lpwstr>0</vt:lpwstr>
  </property>
</Properties>
</file>